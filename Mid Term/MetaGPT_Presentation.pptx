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Executability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Engineer only</c:v>
                </c:pt>
                <c:pt idx="1">
                  <c:v>+ PM</c:v>
                </c:pt>
                <c:pt idx="2">
                  <c:v>+ Architect</c:v>
                </c:pt>
                <c:pt idx="3">
                  <c:v>+ All Roles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2.5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55-894B-A085-FDEE4EECB4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17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37160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13716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Programming for a Multi-Agent Collaborative Framework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54864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DAMG 7374 · Generative AI / LLM  |  Group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Inchara Adigante  ·  Sahil Kasliwal  ·  Hrishi Pal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Hong, Zhuge, Chen et al. — Published at ICLR 2024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3B5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What Problem Does MetaGPT Solve?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3566160"/>
          </a:xfrm>
          <a:prstGeom prst="rect">
            <a:avLst/>
          </a:prstGeom>
          <a:solidFill>
            <a:srgbClr val="1A2E42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2926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Hallucinations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from one agent amplify downstream in naive LLM chains.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Tokens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spend tokens on greetings and small talk instead of real work.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Structure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systems lack specialised roles or enforced deliverables.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3566160"/>
          </a:xfrm>
          <a:prstGeom prst="rect">
            <a:avLst/>
          </a:prstGeom>
          <a:solidFill>
            <a:srgbClr val="1A2E42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2926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Encoded in Agents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Standardised Operating Procedures define each role's deliverables.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Specialised Roles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· Architect · Project Manager · Engineer · QA Engineer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Handoffs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PRDs, system designs, task lists and code files — not free-form chat.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07408" y="2560320"/>
            <a:ext cx="329184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237744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Works: Existing Approaches &amp; 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Executability: 1.0 / 4.0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188720"/>
            <a:ext cx="5943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specialisation · No structured outputs · Cannot handle complex SE tasks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8412480" cy="777240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11680"/>
            <a:ext cx="54864" cy="77724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ChatDev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Executability: 2.25 / 4.0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5943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Dialogue-based comms · Info lost in translation · 2.5 human revisions per task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777240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Executability: 1.0 / 4.0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017520"/>
            <a:ext cx="5943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SOP workflow · No PRD/design doc generation · No API interface creation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4048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AgentVerse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Executability: 1.0 / 4.0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3931920"/>
            <a:ext cx="5943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framework · No requirements decomposition · No structured comms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68172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None systematically decompose requirements or enforce structured communication between agents.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Three Core Mechanisms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143000"/>
          </a:xfrm>
          <a:prstGeom prst="rect">
            <a:avLst/>
          </a:prstGeom>
          <a:solidFill>
            <a:srgbClr val="1A2E4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822960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Pipeline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15544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agents in fixed order: PM → Architect → Project Manager → Engineer → QA. JSON schemas enforced via Python dataclasses. Retry mechanism up to 3 attempts per stage. Data flows via direct function arguments.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8412480" cy="1143000"/>
          </a:xfrm>
          <a:prstGeom prst="rect">
            <a:avLst/>
          </a:prstGeom>
          <a:solidFill>
            <a:srgbClr val="1A2E4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95728"/>
            <a:ext cx="822960" cy="11430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67004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25880" y="24871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Pub-Sub Communication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285292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Message Bus with UUID, sender, topic, timestamp, and metadata. Agents subscribe to topics and publish outputs. Decouples agents from each other. Full audit trail maintained for debugging.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94176"/>
            <a:ext cx="8412480" cy="1143000"/>
          </a:xfrm>
          <a:prstGeom prst="rect">
            <a:avLst/>
          </a:prstGeom>
          <a:solidFill>
            <a:srgbClr val="1A2E42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94176"/>
            <a:ext cx="822960" cy="1143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6849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25880" y="37856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Feedback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415137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→ Review → Revise loop. Structured FeedbackResult: approval flag, score 1–10, issues, suggestions. Score &lt; 7 triggers revision. Cross-role review pairs. Max 2 revision rounds per stage.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Details: Pipeline, Pub-Sub &amp; Feedback Matrix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79655"/>
            <a:ext cx="1338349" cy="548640"/>
          </a:xfrm>
          <a:prstGeom prst="rect">
            <a:avLst/>
          </a:prstGeom>
          <a:solidFill>
            <a:srgbClr val="00B4D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79655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071095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979655"/>
            <a:ext cx="1417320" cy="548640"/>
          </a:xfrm>
          <a:prstGeom prst="rect">
            <a:avLst/>
          </a:prstGeom>
          <a:solidFill>
            <a:srgbClr val="48CAE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979655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071095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40480" y="979655"/>
            <a:ext cx="1417320" cy="548640"/>
          </a:xfrm>
          <a:prstGeom prst="rect">
            <a:avLst/>
          </a:prstGeom>
          <a:solidFill>
            <a:srgbClr val="FFD166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979655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071095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577840" y="979655"/>
            <a:ext cx="1417320" cy="548640"/>
          </a:xfrm>
          <a:prstGeom prst="rect">
            <a:avLst/>
          </a:prstGeom>
          <a:solidFill>
            <a:srgbClr val="06D6A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979655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95160" y="1071095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0" y="979655"/>
            <a:ext cx="1417320" cy="548640"/>
          </a:xfrm>
          <a:prstGeom prst="rect">
            <a:avLst/>
          </a:prstGeom>
          <a:solidFill>
            <a:srgbClr val="0096C7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0" y="979655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1523723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Pub-Sub Topic Subscription Map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34905"/>
              </p:ext>
            </p:extLst>
          </p:nvPr>
        </p:nvGraphicFramePr>
        <p:xfrm>
          <a:off x="514350" y="1819239"/>
          <a:ext cx="8069580" cy="1645920"/>
        </p:xfrm>
        <a:graphic>
          <a:graphicData uri="http://schemas.openxmlformats.org/drawingml/2006/table">
            <a:tbl>
              <a:tblPr/>
              <a:tblGrid>
                <a:gridCol w="1929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9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9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Subscribes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Publishes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prd_output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prd_output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task_breakdown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task_breakdown, prd_output, system_design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code_output, prd_output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3436063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Cross-Role Review Matrix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901039"/>
              </p:ext>
            </p:extLst>
          </p:nvPr>
        </p:nvGraphicFramePr>
        <p:xfrm>
          <a:off x="440055" y="3710383"/>
          <a:ext cx="8218170" cy="1371600"/>
        </p:xfrm>
        <a:graphic>
          <a:graphicData uri="http://schemas.openxmlformats.org/drawingml/2006/table">
            <a:tbl>
              <a:tblPr/>
              <a:tblGrid>
                <a:gridCol w="196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6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feasibility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&amp;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&amp; correctness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SOP Pipeline + Shared Message Pool + Feedback Loop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2706624" cy="4069080"/>
          </a:xfrm>
          <a:prstGeom prst="rect">
            <a:avLst/>
          </a:prstGeom>
          <a:solidFill>
            <a:srgbClr val="111E30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914400"/>
            <a:ext cx="2706624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144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SOP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08176"/>
            <a:ext cx="1280160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18488" y="142646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92808" y="1444752"/>
            <a:ext cx="914400" cy="329184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13" name="Text 11"/>
          <p:cNvSpPr/>
          <p:nvPr/>
        </p:nvSpPr>
        <p:spPr>
          <a:xfrm>
            <a:off x="1892808" y="1444752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Doc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4944" y="181051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066544"/>
            <a:ext cx="1280160" cy="40233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06654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18488" y="208483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92808" y="2103120"/>
            <a:ext cx="914400" cy="329184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19" name="Text 17"/>
          <p:cNvSpPr/>
          <p:nvPr/>
        </p:nvSpPr>
        <p:spPr>
          <a:xfrm>
            <a:off x="1892808" y="2103120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944" y="24688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1280160" cy="40233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7249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1848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92808" y="2761488"/>
            <a:ext cx="914400" cy="329184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25" name="Text 23"/>
          <p:cNvSpPr/>
          <p:nvPr/>
        </p:nvSpPr>
        <p:spPr>
          <a:xfrm>
            <a:off x="1892808" y="2761488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" y="312724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3383280"/>
            <a:ext cx="1280160" cy="40233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3832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18488" y="34015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892808" y="3419856"/>
            <a:ext cx="914400" cy="329184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31" name="Text 29"/>
          <p:cNvSpPr/>
          <p:nvPr/>
        </p:nvSpPr>
        <p:spPr>
          <a:xfrm>
            <a:off x="1892808" y="3419856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" y="378561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4041648"/>
            <a:ext cx="1280160" cy="40233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0416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618488" y="405993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892808" y="4078224"/>
            <a:ext cx="914400" cy="329184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37" name="Text 35"/>
          <p:cNvSpPr/>
          <p:nvPr/>
        </p:nvSpPr>
        <p:spPr>
          <a:xfrm>
            <a:off x="1892808" y="4078224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Review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27248" y="914400"/>
            <a:ext cx="2889504" cy="4069080"/>
          </a:xfrm>
          <a:prstGeom prst="rect">
            <a:avLst/>
          </a:prstGeom>
          <a:solidFill>
            <a:srgbClr val="111E30"/>
          </a:solidFill>
          <a:ln/>
        </p:spPr>
      </p:sp>
      <p:sp>
        <p:nvSpPr>
          <p:cNvPr id="39" name="Shape 37"/>
          <p:cNvSpPr/>
          <p:nvPr/>
        </p:nvSpPr>
        <p:spPr>
          <a:xfrm>
            <a:off x="3127248" y="914400"/>
            <a:ext cx="2889504" cy="38404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0" name="Text 38"/>
          <p:cNvSpPr/>
          <p:nvPr/>
        </p:nvSpPr>
        <p:spPr>
          <a:xfrm>
            <a:off x="3182112" y="91440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Shared Message Pool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151376" y="2633472"/>
            <a:ext cx="822960" cy="640080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151376" y="2633472"/>
            <a:ext cx="822960" cy="8229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3" name="Text 41"/>
          <p:cNvSpPr/>
          <p:nvPr/>
        </p:nvSpPr>
        <p:spPr>
          <a:xfrm>
            <a:off x="4151376" y="2715768"/>
            <a:ext cx="822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18688" y="1426464"/>
            <a:ext cx="1280160" cy="475488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45" name="Shape 43"/>
          <p:cNvSpPr/>
          <p:nvPr/>
        </p:nvSpPr>
        <p:spPr>
          <a:xfrm>
            <a:off x="3218688" y="1426464"/>
            <a:ext cx="45720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6" name="Text 44"/>
          <p:cNvSpPr/>
          <p:nvPr/>
        </p:nvSpPr>
        <p:spPr>
          <a:xfrm>
            <a:off x="3291840" y="1426464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Mgr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prd_output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17136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18688" y="2377440"/>
            <a:ext cx="1280160" cy="475488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49" name="Shape 47"/>
          <p:cNvSpPr/>
          <p:nvPr/>
        </p:nvSpPr>
        <p:spPr>
          <a:xfrm>
            <a:off x="3218688" y="2377440"/>
            <a:ext cx="45720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0" name="Text 48"/>
          <p:cNvSpPr/>
          <p:nvPr/>
        </p:nvSpPr>
        <p:spPr>
          <a:xfrm>
            <a:off x="3291840" y="2377440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system_design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1713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18688" y="3328416"/>
            <a:ext cx="1280160" cy="475488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53" name="Shape 51"/>
          <p:cNvSpPr/>
          <p:nvPr/>
        </p:nvSpPr>
        <p:spPr>
          <a:xfrm>
            <a:off x="3218688" y="3328416"/>
            <a:ext cx="45720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4" name="Text 52"/>
          <p:cNvSpPr/>
          <p:nvPr/>
        </p:nvSpPr>
        <p:spPr>
          <a:xfrm>
            <a:off x="3291840" y="3328416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Mgr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task_breakdown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17136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010912" y="1426464"/>
            <a:ext cx="1097280" cy="475488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57" name="Shape 55"/>
          <p:cNvSpPr/>
          <p:nvPr/>
        </p:nvSpPr>
        <p:spPr>
          <a:xfrm>
            <a:off x="6071616" y="1426464"/>
            <a:ext cx="3657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0" y="1426464"/>
            <a:ext cx="102412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code_output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18304" y="1536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010912" y="2505456"/>
            <a:ext cx="1097280" cy="658368"/>
          </a:xfrm>
          <a:prstGeom prst="rect">
            <a:avLst/>
          </a:prstGeom>
          <a:solidFill>
            <a:srgbClr val="1C2E42"/>
          </a:solidFill>
          <a:ln/>
        </p:spPr>
      </p:sp>
      <p:sp>
        <p:nvSpPr>
          <p:cNvPr id="61" name="Shape 59"/>
          <p:cNvSpPr/>
          <p:nvPr/>
        </p:nvSpPr>
        <p:spPr>
          <a:xfrm>
            <a:off x="6071616" y="2505456"/>
            <a:ext cx="36576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2" name="Text 60"/>
          <p:cNvSpPr/>
          <p:nvPr/>
        </p:nvSpPr>
        <p:spPr>
          <a:xfrm>
            <a:off x="5029200" y="2505456"/>
            <a:ext cx="102412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task, prd,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system_design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718304" y="27066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200400" y="431596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arrows = publish  ·  Cyan arrows = subscribe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36208" y="914400"/>
            <a:ext cx="2706624" cy="4069080"/>
          </a:xfrm>
          <a:prstGeom prst="rect">
            <a:avLst/>
          </a:prstGeom>
          <a:solidFill>
            <a:srgbClr val="111E30"/>
          </a:solidFill>
          <a:ln/>
        </p:spPr>
      </p:sp>
      <p:sp>
        <p:nvSpPr>
          <p:cNvPr id="66" name="Shape 64"/>
          <p:cNvSpPr/>
          <p:nvPr/>
        </p:nvSpPr>
        <p:spPr>
          <a:xfrm>
            <a:off x="6236208" y="914400"/>
            <a:ext cx="2706624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7" name="Text 65"/>
          <p:cNvSpPr/>
          <p:nvPr/>
        </p:nvSpPr>
        <p:spPr>
          <a:xfrm>
            <a:off x="6291072" y="9144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Executable Feedback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6355080" y="1426464"/>
            <a:ext cx="2468880" cy="457200"/>
          </a:xfrm>
          <a:prstGeom prst="rect">
            <a:avLst/>
          </a:prstGeom>
          <a:solidFill>
            <a:srgbClr val="1C3A55"/>
          </a:solidFill>
          <a:ln/>
        </p:spPr>
      </p:sp>
      <p:sp>
        <p:nvSpPr>
          <p:cNvPr id="69" name="Text 67"/>
          <p:cNvSpPr/>
          <p:nvPr/>
        </p:nvSpPr>
        <p:spPr>
          <a:xfrm>
            <a:off x="6373368" y="14356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Writes Code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373368" y="167335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PRD + design context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086600" y="1883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355080" y="2084832"/>
            <a:ext cx="2468880" cy="457200"/>
          </a:xfrm>
          <a:prstGeom prst="rect">
            <a:avLst/>
          </a:prstGeom>
          <a:solidFill>
            <a:srgbClr val="1C3A55"/>
          </a:solidFill>
          <a:ln/>
        </p:spPr>
      </p:sp>
      <p:sp>
        <p:nvSpPr>
          <p:cNvPr id="73" name="Text 71"/>
          <p:cNvSpPr/>
          <p:nvPr/>
        </p:nvSpPr>
        <p:spPr>
          <a:xfrm>
            <a:off x="6373368" y="209397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Test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373368" y="23317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generated code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086600" y="2542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355080" y="2743200"/>
            <a:ext cx="2468880" cy="457200"/>
          </a:xfrm>
          <a:prstGeom prst="rect">
            <a:avLst/>
          </a:prstGeom>
          <a:solidFill>
            <a:srgbClr val="0A5C38"/>
          </a:solidFill>
          <a:ln/>
        </p:spPr>
      </p:sp>
      <p:sp>
        <p:nvSpPr>
          <p:cNvPr id="77" name="Text 75"/>
          <p:cNvSpPr/>
          <p:nvPr/>
        </p:nvSpPr>
        <p:spPr>
          <a:xfrm>
            <a:off x="6373368" y="275234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Tests Pass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373368" y="299008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done!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355080" y="3401568"/>
            <a:ext cx="2468880" cy="457200"/>
          </a:xfrm>
          <a:prstGeom prst="rect">
            <a:avLst/>
          </a:prstGeom>
          <a:solidFill>
            <a:srgbClr val="6B1020"/>
          </a:solidFill>
          <a:ln/>
        </p:spPr>
      </p:sp>
      <p:sp>
        <p:nvSpPr>
          <p:cNvPr id="80" name="Text 78"/>
          <p:cNvSpPr/>
          <p:nvPr/>
        </p:nvSpPr>
        <p:spPr>
          <a:xfrm>
            <a:off x="6373368" y="34107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Tests Fail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373368" y="36484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memory, debug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355080" y="4059936"/>
            <a:ext cx="2468880" cy="457200"/>
          </a:xfrm>
          <a:prstGeom prst="rect">
            <a:avLst/>
          </a:prstGeom>
          <a:solidFill>
            <a:srgbClr val="1C3A55"/>
          </a:solidFill>
          <a:ln/>
        </p:spPr>
      </p:sp>
      <p:sp>
        <p:nvSpPr>
          <p:cNvPr id="83" name="Text 81"/>
          <p:cNvSpPr/>
          <p:nvPr/>
        </p:nvSpPr>
        <p:spPr>
          <a:xfrm>
            <a:off x="6373368" y="406908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&amp; Retry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373368" y="430682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attempts max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355080" y="4315968"/>
            <a:ext cx="2468880" cy="347472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86" name="Text 84"/>
          <p:cNvSpPr/>
          <p:nvPr/>
        </p:nvSpPr>
        <p:spPr>
          <a:xfrm>
            <a:off x="6355080" y="4315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Fail → Retry loop (max 3 rounds)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054096" y="914400"/>
            <a:ext cx="54864" cy="4069080"/>
          </a:xfrm>
          <a:prstGeom prst="rect">
            <a:avLst/>
          </a:prstGeom>
          <a:solidFill>
            <a:srgbClr val="223344"/>
          </a:solidFill>
          <a:ln/>
        </p:spPr>
      </p:sp>
      <p:sp>
        <p:nvSpPr>
          <p:cNvPr id="88" name="Shape 86"/>
          <p:cNvSpPr/>
          <p:nvPr/>
        </p:nvSpPr>
        <p:spPr>
          <a:xfrm>
            <a:off x="6163056" y="914400"/>
            <a:ext cx="54864" cy="4069080"/>
          </a:xfrm>
          <a:prstGeom prst="rect">
            <a:avLst/>
          </a:prstGeom>
          <a:solidFill>
            <a:srgbClr val="22334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Goals &amp; Contributions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encoding human SOPs into LLM multi-agent systems produces significantly better software than existing approaches.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640080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1901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Meta-Programming Framework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2677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portable platform for building LLM multi-agent systems with well-defined role definitions and message sharing. Roles follow SOPs with specific deliverables.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914400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52928"/>
            <a:ext cx="640080" cy="9144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081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SOPs + Executable Feedback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291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reduce unproductive collaboration. Executable feedback mechanism debugs and executes code at runtime — delivering a 5.4% absolute improvement on MBPP.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8412480" cy="914400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77056"/>
            <a:ext cx="640080" cy="9144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1056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97280" y="39502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Benchmarks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3159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HumanEval (164 tasks), MBPP (427 tasks), and SoftwareDev (70 real-world tasks). Measured executability, token usage, productivity, and human revision cost.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MetaGPT vs. Prior Systems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702031" cy="922713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51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 Pass@1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884911" cy="922713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51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MBPP Pass@1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884911" cy="922713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51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3.75/4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SoftwareDev Executability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005840"/>
            <a:ext cx="1920240" cy="922713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051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67512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Revisions per Task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011265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SoftwareDev Benchmark Comparison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431639"/>
              </p:ext>
            </p:extLst>
          </p:nvPr>
        </p:nvGraphicFramePr>
        <p:xfrm>
          <a:off x="627611" y="2331720"/>
          <a:ext cx="7784869" cy="1691640"/>
        </p:xfrm>
        <a:graphic>
          <a:graphicData uri="http://schemas.openxmlformats.org/drawingml/2006/table">
            <a:tbl>
              <a:tblPr/>
              <a:tblGrid>
                <a:gridCol w="186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85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3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 of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3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7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MetaGPT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7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 / 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7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3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 / 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3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/ 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3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/ 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3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AgentVerse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/ 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657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Role Addition Impact on Executability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65760" y="4343400"/>
          <a:ext cx="4206240" cy="640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8"/>
          <p:cNvSpPr/>
          <p:nvPr/>
        </p:nvSpPr>
        <p:spPr>
          <a:xfrm>
            <a:off x="4754880" y="4023360"/>
            <a:ext cx="40233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mechanism improved executability from 3.67 → 3.75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cut human revisions from 2.25 → 0.83 (3× reduction).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 &amp; Key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143000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SOP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dataclass schemas: PRDDocument, SystemDesign, TaskList, CodeOutput, TestOutput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prompt templates enforcing exact JSON responses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BaseAgent: markdown fence stripping, JSON validation, 3-retry mechanism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Flappy Bird → game.js · bird.js · obstacle.js + unit tests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Rigid SOP prevents hallucination drift — each agent gets exactly the context it needs.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8412480" cy="1143000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95728"/>
            <a:ext cx="54864" cy="11430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· Pub-Sub Protocol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77977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dataclass: UUID, sender, topic, content, timestamp, metadata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MessageBus: topic subscriptions, ordered history, full audit trail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PubSubAgent: listen → process → announce lifecycle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same Flappy Bird task with full timestamped message trail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Decoupling via message bus makes system extensible without refactoring.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94176"/>
            <a:ext cx="8412480" cy="1143000"/>
          </a:xfrm>
          <a:prstGeom prst="rect">
            <a:avLst/>
          </a:prstGeom>
          <a:solidFill>
            <a:srgbClr val="1A2E4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94176"/>
            <a:ext cx="54864" cy="1143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673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· Feedback Mechanism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078224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FeedbackResult: approved flag, score 1–10, issues, suggestions, summary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FeedbackAgent: produce → review → revise, max 2 rounds per stage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cross-role review pairs (PM↔Arch, Arch↔PM, Eng↔QA, QA↔Eng)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full feedback history showing score progression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Quality gates catch errors early where they are cheapest to fix.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Applying MetaGPT to Jobzilla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20624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20624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→ Specialised Roles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Analyzer · Job Matcher · Application Drafter · Interview Coach — each with structured output schemas for every handoff. No information lost between stages.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20624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4206240" cy="914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Pub-Sub → Loose Coupling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600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resume_parsed, jobs_matched, application_drafted. Full audit trail. Easy to add Salary Negotiator or Networking Coach without refactoring.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20624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4206240" cy="914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Quality Gates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Matcher reviews Resume Analyzer output. Interview Coach reviews Application Drafter cover letters. Score-gating ensures only high-confidence recommendations reach users.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017520"/>
            <a:ext cx="420624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017520"/>
            <a:ext cx="4206240" cy="9144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Lessons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520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beat free-form dialogue. Role specialisation = one thing done well. Executable validation against real data. Human-in-the-loop checkpoints improve trust.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 proves multi-agent systems work best when they mirror real team structures. Jobzilla can leverage SOPs, Pub-Sub, and Feedback Loops for a reliable, extensible job search pipeline.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1232</Words>
  <Application>Microsoft Macintosh PowerPoint</Application>
  <PresentationFormat>On-screen Show (16:9)</PresentationFormat>
  <Paragraphs>259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MetaGPT: Meta Programming for a Multi-Agent Collaborative Framework</dc:title>
  <dc:subject>PptxGenJS Presentation</dc:subject>
  <dc:creator>PptxGenJS</dc:creator>
  <cp:lastModifiedBy>Microsoft Office User</cp:lastModifiedBy>
  <cp:revision>4</cp:revision>
  <dcterms:created xsi:type="dcterms:W3CDTF">2026-03-12T00:15:55Z</dcterms:created>
  <dcterms:modified xsi:type="dcterms:W3CDTF">2026-03-12T00:42:40Z</dcterms:modified>
</cp:coreProperties>
</file>